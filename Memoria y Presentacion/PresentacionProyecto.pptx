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embeddedFontLst>
    <p:embeddedFont>
      <p:font typeface="Roboto"/>
      <p:regular r:id="rId23"/>
      <p:bold r:id="rId24"/>
      <p:italic r:id="rId25"/>
      <p:boldItalic r:id="rId26"/>
    </p:embeddedFont>
    <p:embeddedFont>
      <p:font typeface="Average"/>
      <p:regular r:id="rId27"/>
    </p:embeddedFont>
    <p:embeddedFont>
      <p:font typeface="Oswald"/>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Roboto-bold.fntdata"/><Relationship Id="rId23" Type="http://schemas.openxmlformats.org/officeDocument/2006/relationships/font" Target="fonts/Robot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boldItalic.fntdata"/><Relationship Id="rId25" Type="http://schemas.openxmlformats.org/officeDocument/2006/relationships/font" Target="fonts/Roboto-italic.fntdata"/><Relationship Id="rId28" Type="http://schemas.openxmlformats.org/officeDocument/2006/relationships/font" Target="fonts/Oswald-regular.fntdata"/><Relationship Id="rId27" Type="http://schemas.openxmlformats.org/officeDocument/2006/relationships/font" Target="fonts/Average-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Oswald-bold.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2e6d4bb8e7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2e6d4bb8e7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2e6d4bb8e7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2e6d4bb8e7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2e6d4bb8e75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2e6d4bb8e7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e6d4bb8e75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2e6d4bb8e75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e6d4bb8e75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e6d4bb8e75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2e6d4bb8e75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2e6d4bb8e75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2e6d4bb8e75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2e6d4bb8e75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e6d4bb8e75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2e6d4bb8e75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e6d4bb8e75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2e6d4bb8e75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e72aa8133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e72aa8133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e70ed2e49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e70ed2e49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2e70ed2e49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2e70ed2e49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2e70ed2e49f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2e70ed2e49f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2e70ed2e49f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2e70ed2e49f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e70ed2e49f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2e70ed2e49f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2e70ed2e49f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2e70ed2e49f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imagecompressor.com/es/#google_vignette" TargetMode="Externa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3"/>
          <p:cNvSpPr txBox="1"/>
          <p:nvPr>
            <p:ph type="ctrTitle"/>
          </p:nvPr>
        </p:nvSpPr>
        <p:spPr>
          <a:xfrm>
            <a:off x="390525" y="1819275"/>
            <a:ext cx="8222100" cy="933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sz="2500"/>
              <a:t>“Pasos para un correcto posicionamiento SEO”</a:t>
            </a:r>
            <a:endParaRPr sz="2500"/>
          </a:p>
          <a:p>
            <a:pPr indent="0" lvl="0" marL="0" rtl="0" algn="ctr">
              <a:spcBef>
                <a:spcPts val="0"/>
              </a:spcBef>
              <a:spcAft>
                <a:spcPts val="0"/>
              </a:spcAft>
              <a:buNone/>
            </a:pPr>
            <a:r>
              <a:rPr lang="es" sz="2500">
                <a:latin typeface="Oswald"/>
                <a:ea typeface="Oswald"/>
                <a:cs typeface="Oswald"/>
                <a:sym typeface="Oswald"/>
              </a:rPr>
              <a:t>PROYECTO FINAL DE CICLO 2DAW</a:t>
            </a:r>
            <a:endParaRPr sz="2500"/>
          </a:p>
        </p:txBody>
      </p:sp>
      <p:sp>
        <p:nvSpPr>
          <p:cNvPr id="68" name="Google Shape;68;p13"/>
          <p:cNvSpPr txBox="1"/>
          <p:nvPr>
            <p:ph idx="1" type="subTitle"/>
          </p:nvPr>
        </p:nvSpPr>
        <p:spPr>
          <a:xfrm>
            <a:off x="390525" y="2789130"/>
            <a:ext cx="8222100" cy="432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sz="1900">
                <a:latin typeface="Average"/>
                <a:ea typeface="Average"/>
                <a:cs typeface="Average"/>
                <a:sym typeface="Average"/>
              </a:rPr>
              <a:t>Autor:</a:t>
            </a:r>
            <a:endParaRPr sz="1900">
              <a:latin typeface="Average"/>
              <a:ea typeface="Average"/>
              <a:cs typeface="Average"/>
              <a:sym typeface="Average"/>
            </a:endParaRPr>
          </a:p>
          <a:p>
            <a:pPr indent="0" lvl="0" marL="0" rtl="0" algn="ctr">
              <a:spcBef>
                <a:spcPts val="0"/>
              </a:spcBef>
              <a:spcAft>
                <a:spcPts val="0"/>
              </a:spcAft>
              <a:buNone/>
            </a:pPr>
            <a:r>
              <a:rPr lang="es" sz="1900">
                <a:latin typeface="Average"/>
                <a:ea typeface="Average"/>
                <a:cs typeface="Average"/>
                <a:sym typeface="Average"/>
              </a:rPr>
              <a:t>Ferran Sebastia Juan</a:t>
            </a:r>
            <a:endParaRPr sz="1900"/>
          </a:p>
        </p:txBody>
      </p:sp>
      <p:pic>
        <p:nvPicPr>
          <p:cNvPr id="69" name="Google Shape;69;p13"/>
          <p:cNvPicPr preferRelativeResize="0"/>
          <p:nvPr/>
        </p:nvPicPr>
        <p:blipFill>
          <a:blip r:embed="rId3">
            <a:alphaModFix/>
          </a:blip>
          <a:stretch>
            <a:fillRect/>
          </a:stretch>
        </p:blipFill>
        <p:spPr>
          <a:xfrm>
            <a:off x="3611925" y="434750"/>
            <a:ext cx="1920150" cy="9908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Índice</a:t>
            </a:r>
            <a:endParaRPr/>
          </a:p>
        </p:txBody>
      </p:sp>
      <p:sp>
        <p:nvSpPr>
          <p:cNvPr id="75" name="Google Shape;75;p14"/>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AutoNum type="arabicPeriod"/>
            </a:pPr>
            <a:r>
              <a:rPr lang="es" sz="1300"/>
              <a:t>Elección de palabras clave</a:t>
            </a:r>
            <a:endParaRPr sz="1300"/>
          </a:p>
          <a:p>
            <a:pPr indent="-311150" lvl="0" marL="457200" rtl="0" algn="l">
              <a:spcBef>
                <a:spcPts val="0"/>
              </a:spcBef>
              <a:spcAft>
                <a:spcPts val="0"/>
              </a:spcAft>
              <a:buSzPts val="1300"/>
              <a:buAutoNum type="arabicPeriod"/>
            </a:pPr>
            <a:r>
              <a:rPr lang="es" sz="1300"/>
              <a:t>Optimización del contenido</a:t>
            </a:r>
            <a:endParaRPr sz="1300"/>
          </a:p>
          <a:p>
            <a:pPr indent="-311150" lvl="1" marL="914400" rtl="0" algn="l">
              <a:spcBef>
                <a:spcPts val="0"/>
              </a:spcBef>
              <a:spcAft>
                <a:spcPts val="0"/>
              </a:spcAft>
              <a:buSzPts val="1300"/>
              <a:buAutoNum type="arabicPeriod"/>
            </a:pPr>
            <a:r>
              <a:rPr lang="es" sz="1300"/>
              <a:t>Uso de palabras clave</a:t>
            </a:r>
            <a:endParaRPr sz="1300"/>
          </a:p>
          <a:p>
            <a:pPr indent="-311150" lvl="1" marL="914400" rtl="0" algn="l">
              <a:spcBef>
                <a:spcPts val="0"/>
              </a:spcBef>
              <a:spcAft>
                <a:spcPts val="0"/>
              </a:spcAft>
              <a:buSzPts val="1300"/>
              <a:buAutoNum type="arabicPeriod"/>
            </a:pPr>
            <a:r>
              <a:rPr lang="es" sz="1300"/>
              <a:t>Estructura del contenido</a:t>
            </a:r>
            <a:endParaRPr sz="1300"/>
          </a:p>
          <a:p>
            <a:pPr indent="-311150" lvl="0" marL="457200" rtl="0" algn="l">
              <a:spcBef>
                <a:spcPts val="0"/>
              </a:spcBef>
              <a:spcAft>
                <a:spcPts val="0"/>
              </a:spcAft>
              <a:buSzPts val="1300"/>
              <a:buAutoNum type="arabicPeriod"/>
            </a:pPr>
            <a:r>
              <a:rPr lang="es" sz="1300"/>
              <a:t>Optimización del código</a:t>
            </a:r>
            <a:endParaRPr sz="1300"/>
          </a:p>
          <a:p>
            <a:pPr indent="-311150" lvl="1" marL="914400" rtl="0" algn="l">
              <a:spcBef>
                <a:spcPts val="0"/>
              </a:spcBef>
              <a:spcAft>
                <a:spcPts val="0"/>
              </a:spcAft>
              <a:buSzPts val="1300"/>
              <a:buAutoNum type="arabicPeriod"/>
            </a:pPr>
            <a:r>
              <a:rPr lang="es" sz="1300"/>
              <a:t>Etiquetas Meta</a:t>
            </a:r>
            <a:endParaRPr sz="1300"/>
          </a:p>
          <a:p>
            <a:pPr indent="-311150" lvl="1" marL="914400" rtl="0" algn="l">
              <a:spcBef>
                <a:spcPts val="0"/>
              </a:spcBef>
              <a:spcAft>
                <a:spcPts val="0"/>
              </a:spcAft>
              <a:buSzPts val="1300"/>
              <a:buAutoNum type="arabicPeriod"/>
            </a:pPr>
            <a:r>
              <a:rPr lang="es" sz="1300"/>
              <a:t>Optimización de imágenes</a:t>
            </a:r>
            <a:endParaRPr sz="1300"/>
          </a:p>
          <a:p>
            <a:pPr indent="-311150" lvl="1" marL="914400" rtl="0" algn="l">
              <a:spcBef>
                <a:spcPts val="0"/>
              </a:spcBef>
              <a:spcAft>
                <a:spcPts val="0"/>
              </a:spcAft>
              <a:buSzPts val="1300"/>
              <a:buAutoNum type="arabicPeriod"/>
            </a:pPr>
            <a:r>
              <a:rPr lang="es" sz="1300"/>
              <a:t>Desarrollo de archivos CSS y JS</a:t>
            </a:r>
            <a:endParaRPr sz="1300"/>
          </a:p>
          <a:p>
            <a:pPr indent="-311150" lvl="1" marL="914400" rtl="0" algn="l">
              <a:spcBef>
                <a:spcPts val="0"/>
              </a:spcBef>
              <a:spcAft>
                <a:spcPts val="0"/>
              </a:spcAft>
              <a:buSzPts val="1300"/>
              <a:buAutoNum type="arabicPeriod"/>
            </a:pPr>
            <a:r>
              <a:rPr lang="es" sz="1300"/>
              <a:t>Elaboración del Sitemaps</a:t>
            </a:r>
            <a:endParaRPr sz="1300"/>
          </a:p>
          <a:p>
            <a:pPr indent="-311150" lvl="1" marL="914400" rtl="0" algn="l">
              <a:spcBef>
                <a:spcPts val="0"/>
              </a:spcBef>
              <a:spcAft>
                <a:spcPts val="0"/>
              </a:spcAft>
              <a:buSzPts val="1300"/>
              <a:buAutoNum type="arabicPeriod"/>
            </a:pPr>
            <a:r>
              <a:rPr lang="es" sz="1300"/>
              <a:t>Elaboración del Robots.txt</a:t>
            </a:r>
            <a:endParaRPr sz="1300"/>
          </a:p>
          <a:p>
            <a:pPr indent="-311150" lvl="0" marL="457200" rtl="0" algn="l">
              <a:spcBef>
                <a:spcPts val="0"/>
              </a:spcBef>
              <a:spcAft>
                <a:spcPts val="0"/>
              </a:spcAft>
              <a:buSzPts val="1300"/>
              <a:buAutoNum type="arabicPeriod"/>
            </a:pPr>
            <a:r>
              <a:rPr lang="es" sz="1300"/>
              <a:t>Preparación para la indexación</a:t>
            </a:r>
            <a:endParaRPr sz="1300"/>
          </a:p>
          <a:p>
            <a:pPr indent="-311150" lvl="1" marL="914400" rtl="0" algn="l">
              <a:spcBef>
                <a:spcPts val="0"/>
              </a:spcBef>
              <a:spcAft>
                <a:spcPts val="0"/>
              </a:spcAft>
              <a:buSzPts val="1300"/>
              <a:buAutoNum type="arabicPeriod"/>
            </a:pPr>
            <a:r>
              <a:rPr lang="es" sz="1300"/>
              <a:t>Estructura de enlaces internos</a:t>
            </a:r>
            <a:endParaRPr sz="1300"/>
          </a:p>
          <a:p>
            <a:pPr indent="-311150" lvl="1" marL="914400" rtl="0" algn="l">
              <a:spcBef>
                <a:spcPts val="0"/>
              </a:spcBef>
              <a:spcAft>
                <a:spcPts val="0"/>
              </a:spcAft>
              <a:buSzPts val="1300"/>
              <a:buAutoNum type="arabicPeriod"/>
            </a:pPr>
            <a:r>
              <a:rPr lang="es" sz="1300"/>
              <a:t>Adaptabilidad Móvil</a:t>
            </a:r>
            <a:endParaRPr sz="13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431800" lvl="0" marL="457200" rtl="0" algn="l">
              <a:spcBef>
                <a:spcPts val="0"/>
              </a:spcBef>
              <a:spcAft>
                <a:spcPts val="0"/>
              </a:spcAft>
              <a:buSzPts val="3200"/>
              <a:buAutoNum type="arabicPeriod"/>
            </a:pPr>
            <a:r>
              <a:rPr lang="es"/>
              <a:t>Elección de palabras clave</a:t>
            </a:r>
            <a:endParaRPr/>
          </a:p>
        </p:txBody>
      </p:sp>
      <p:sp>
        <p:nvSpPr>
          <p:cNvPr id="81" name="Google Shape;81;p15"/>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A</a:t>
            </a:r>
            <a:r>
              <a:rPr lang="es"/>
              <a:t>yuda a identificar las palabras y frases específicas que los usuarios ingresan en los motores de búsqueda cuando buscan información, productos o servicios relacionados con tu negocio.</a:t>
            </a:r>
            <a:endParaRPr/>
          </a:p>
        </p:txBody>
      </p:sp>
      <p:pic>
        <p:nvPicPr>
          <p:cNvPr id="82" name="Google Shape;82;p15"/>
          <p:cNvPicPr preferRelativeResize="0"/>
          <p:nvPr/>
        </p:nvPicPr>
        <p:blipFill>
          <a:blip r:embed="rId3">
            <a:alphaModFix/>
          </a:blip>
          <a:stretch>
            <a:fillRect/>
          </a:stretch>
        </p:blipFill>
        <p:spPr>
          <a:xfrm rot="803920">
            <a:off x="5973100" y="3144125"/>
            <a:ext cx="1725375" cy="13941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6"/>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2. Optimización del contenido</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7"/>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2.1. Uso de palabras Clave</a:t>
            </a:r>
            <a:endParaRPr/>
          </a:p>
        </p:txBody>
      </p:sp>
      <p:sp>
        <p:nvSpPr>
          <p:cNvPr id="93" name="Google Shape;93;p17"/>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El uso de las palabras clave, puede hacerse en cualquier parte del código interno, pero además, viene bien usarlo en las etiquetas que permiten al usuario ver estas palabras en los textos de tu página web.</a:t>
            </a:r>
            <a:endParaRPr/>
          </a:p>
          <a:p>
            <a:pPr indent="0" lvl="0" marL="0" rtl="0" algn="l">
              <a:spcBef>
                <a:spcPts val="1200"/>
              </a:spcBef>
              <a:spcAft>
                <a:spcPts val="1200"/>
              </a:spcAft>
              <a:buNone/>
            </a:pPr>
            <a:r>
              <a:rPr lang="es"/>
              <a:t>Podemos añadir el uso de la etiqueta &lt;strong&gt; y sirve para darle al texto una importancia o especial.</a:t>
            </a:r>
            <a:endParaRPr/>
          </a:p>
        </p:txBody>
      </p:sp>
      <p:pic>
        <p:nvPicPr>
          <p:cNvPr id="94" name="Google Shape;94;p17"/>
          <p:cNvPicPr preferRelativeResize="0"/>
          <p:nvPr/>
        </p:nvPicPr>
        <p:blipFill>
          <a:blip r:embed="rId3">
            <a:alphaModFix/>
          </a:blip>
          <a:stretch>
            <a:fillRect/>
          </a:stretch>
        </p:blipFill>
        <p:spPr>
          <a:xfrm rot="-691366">
            <a:off x="5064856" y="3840215"/>
            <a:ext cx="3037162" cy="67296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8"/>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2.2. Estructura del contenido</a:t>
            </a:r>
            <a:endParaRPr/>
          </a:p>
        </p:txBody>
      </p:sp>
      <p:sp>
        <p:nvSpPr>
          <p:cNvPr id="100" name="Google Shape;100;p18"/>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Es importante utilizar diferentes tipos de títulos (H1, H2, H3…), listas y párrafos para mejorar la legibilidad de nuestra página web.</a:t>
            </a:r>
            <a:endParaRPr/>
          </a:p>
        </p:txBody>
      </p:sp>
      <p:pic>
        <p:nvPicPr>
          <p:cNvPr id="101" name="Google Shape;101;p18"/>
          <p:cNvPicPr preferRelativeResize="0"/>
          <p:nvPr/>
        </p:nvPicPr>
        <p:blipFill>
          <a:blip r:embed="rId3">
            <a:alphaModFix/>
          </a:blip>
          <a:stretch>
            <a:fillRect/>
          </a:stretch>
        </p:blipFill>
        <p:spPr>
          <a:xfrm rot="-585712">
            <a:off x="473796" y="2948846"/>
            <a:ext cx="3233300" cy="1869350"/>
          </a:xfrm>
          <a:prstGeom prst="rect">
            <a:avLst/>
          </a:prstGeom>
          <a:noFill/>
          <a:ln>
            <a:noFill/>
          </a:ln>
        </p:spPr>
      </p:pic>
      <p:pic>
        <p:nvPicPr>
          <p:cNvPr id="102" name="Google Shape;102;p18"/>
          <p:cNvPicPr preferRelativeResize="0"/>
          <p:nvPr/>
        </p:nvPicPr>
        <p:blipFill>
          <a:blip r:embed="rId4">
            <a:alphaModFix/>
          </a:blip>
          <a:stretch>
            <a:fillRect/>
          </a:stretch>
        </p:blipFill>
        <p:spPr>
          <a:xfrm rot="388562">
            <a:off x="4053271" y="3243950"/>
            <a:ext cx="4801276" cy="7237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9"/>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3. Optimización del código</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0"/>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3.1. Etiquetas Meta</a:t>
            </a:r>
            <a:endParaRPr/>
          </a:p>
        </p:txBody>
      </p:sp>
      <p:sp>
        <p:nvSpPr>
          <p:cNvPr id="113" name="Google Shape;113;p20"/>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Las etiquetas meta son elementos HTML que proporcionan información sobre una página web a los motores de búsqueda y a los visitantes.</a:t>
            </a:r>
            <a:endParaRPr/>
          </a:p>
        </p:txBody>
      </p:sp>
      <p:pic>
        <p:nvPicPr>
          <p:cNvPr id="114" name="Google Shape;114;p20"/>
          <p:cNvPicPr preferRelativeResize="0"/>
          <p:nvPr/>
        </p:nvPicPr>
        <p:blipFill>
          <a:blip r:embed="rId3">
            <a:alphaModFix/>
          </a:blip>
          <a:stretch>
            <a:fillRect/>
          </a:stretch>
        </p:blipFill>
        <p:spPr>
          <a:xfrm>
            <a:off x="4571999" y="3784900"/>
            <a:ext cx="4040526" cy="767700"/>
          </a:xfrm>
          <a:prstGeom prst="rect">
            <a:avLst/>
          </a:prstGeom>
          <a:noFill/>
          <a:ln>
            <a:noFill/>
          </a:ln>
        </p:spPr>
      </p:pic>
      <p:pic>
        <p:nvPicPr>
          <p:cNvPr id="115" name="Google Shape;115;p20"/>
          <p:cNvPicPr preferRelativeResize="0"/>
          <p:nvPr/>
        </p:nvPicPr>
        <p:blipFill>
          <a:blip r:embed="rId4">
            <a:alphaModFix/>
          </a:blip>
          <a:stretch>
            <a:fillRect/>
          </a:stretch>
        </p:blipFill>
        <p:spPr>
          <a:xfrm rot="-646645">
            <a:off x="415725" y="3315100"/>
            <a:ext cx="4647196" cy="4339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1"/>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3.2. Optimización de imágenes.</a:t>
            </a:r>
            <a:endParaRPr/>
          </a:p>
        </p:txBody>
      </p:sp>
      <p:sp>
        <p:nvSpPr>
          <p:cNvPr id="121" name="Google Shape;121;p21"/>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L</a:t>
            </a:r>
            <a:r>
              <a:rPr lang="es"/>
              <a:t>as imágenes adecuadamente optimizadas pueden mejorar la velocidad de carga de la página, la experiencia del usuario y la visibilidad en los motores de búsqueda.</a:t>
            </a:r>
            <a:endParaRPr/>
          </a:p>
          <a:p>
            <a:pPr indent="0" lvl="0" marL="0" rtl="0" algn="l">
              <a:spcBef>
                <a:spcPts val="1200"/>
              </a:spcBef>
              <a:spcAft>
                <a:spcPts val="1200"/>
              </a:spcAft>
              <a:buNone/>
            </a:pPr>
            <a:r>
              <a:rPr lang="es"/>
              <a:t>Para esto podríamos usar una </a:t>
            </a:r>
            <a:r>
              <a:rPr lang="es"/>
              <a:t>página</a:t>
            </a:r>
            <a:r>
              <a:rPr lang="es"/>
              <a:t> web que se especialice en eso como: </a:t>
            </a:r>
            <a:br>
              <a:rPr lang="es"/>
            </a:br>
            <a:r>
              <a:rPr lang="es" u="sng">
                <a:solidFill>
                  <a:schemeClr val="hlink"/>
                </a:solidFill>
                <a:hlinkClick r:id="rId3"/>
              </a:rPr>
              <a:t>Optimizilla</a:t>
            </a:r>
            <a:endParaRPr/>
          </a:p>
        </p:txBody>
      </p:sp>
      <p:pic>
        <p:nvPicPr>
          <p:cNvPr id="122" name="Google Shape;122;p21"/>
          <p:cNvPicPr preferRelativeResize="0"/>
          <p:nvPr/>
        </p:nvPicPr>
        <p:blipFill>
          <a:blip r:embed="rId4">
            <a:alphaModFix/>
          </a:blip>
          <a:stretch>
            <a:fillRect/>
          </a:stretch>
        </p:blipFill>
        <p:spPr>
          <a:xfrm>
            <a:off x="1832675" y="3466750"/>
            <a:ext cx="3030326" cy="7371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2"/>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3.2. Optimización de imágenes.</a:t>
            </a:r>
            <a:endParaRPr/>
          </a:p>
        </p:txBody>
      </p:sp>
      <p:sp>
        <p:nvSpPr>
          <p:cNvPr id="128" name="Google Shape;128;p22"/>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También deberíamos tener enlaces </a:t>
            </a:r>
            <a:r>
              <a:rPr lang="es"/>
              <a:t>estructurados</a:t>
            </a:r>
            <a:r>
              <a:rPr lang="es"/>
              <a:t> para estas </a:t>
            </a:r>
            <a:r>
              <a:rPr lang="es"/>
              <a:t>imágenes como se muestra en la imágen.</a:t>
            </a:r>
            <a:endParaRPr/>
          </a:p>
          <a:p>
            <a:pPr indent="0" lvl="0" marL="0" rtl="0" algn="l">
              <a:spcBef>
                <a:spcPts val="1200"/>
              </a:spcBef>
              <a:spcAft>
                <a:spcPts val="1200"/>
              </a:spcAft>
              <a:buNone/>
            </a:pPr>
            <a:r>
              <a:rPr lang="es"/>
              <a:t>Y por último, añadir etiquetas &lt;alt&gt; para añadir una pequeña descripción con palabras clave para cada imágen.</a:t>
            </a:r>
            <a:endParaRPr/>
          </a:p>
        </p:txBody>
      </p:sp>
      <p:pic>
        <p:nvPicPr>
          <p:cNvPr id="129" name="Google Shape;129;p22"/>
          <p:cNvPicPr preferRelativeResize="0"/>
          <p:nvPr/>
        </p:nvPicPr>
        <p:blipFill>
          <a:blip r:embed="rId3">
            <a:alphaModFix/>
          </a:blip>
          <a:stretch>
            <a:fillRect/>
          </a:stretch>
        </p:blipFill>
        <p:spPr>
          <a:xfrm>
            <a:off x="2678925" y="4255100"/>
            <a:ext cx="5562600" cy="2381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3"/>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3.3. Desarrollo de archivos CSS y JS</a:t>
            </a:r>
            <a:endParaRPr/>
          </a:p>
        </p:txBody>
      </p:sp>
      <p:sp>
        <p:nvSpPr>
          <p:cNvPr id="135" name="Google Shape;135;p23"/>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S</a:t>
            </a:r>
            <a:r>
              <a:rPr lang="es"/>
              <a:t>eparar los archivos CSS y JavaScript del documento HTML no solo mejora el rendimiento del sitio web, sino que también puede beneficiar significativamente al SEO al mejorar la velocidad de carga, la indexación del contenido y la experiencia general del usuario.</a:t>
            </a:r>
            <a:endParaRPr/>
          </a:p>
        </p:txBody>
      </p:sp>
      <p:pic>
        <p:nvPicPr>
          <p:cNvPr id="136" name="Google Shape;136;p23"/>
          <p:cNvPicPr preferRelativeResize="0"/>
          <p:nvPr/>
        </p:nvPicPr>
        <p:blipFill>
          <a:blip r:embed="rId3">
            <a:alphaModFix/>
          </a:blip>
          <a:stretch>
            <a:fillRect/>
          </a:stretch>
        </p:blipFill>
        <p:spPr>
          <a:xfrm>
            <a:off x="604875" y="3840325"/>
            <a:ext cx="3009900" cy="228600"/>
          </a:xfrm>
          <a:prstGeom prst="rect">
            <a:avLst/>
          </a:prstGeom>
          <a:noFill/>
          <a:ln>
            <a:noFill/>
          </a:ln>
        </p:spPr>
      </p:pic>
      <p:pic>
        <p:nvPicPr>
          <p:cNvPr id="137" name="Google Shape;137;p23"/>
          <p:cNvPicPr preferRelativeResize="0"/>
          <p:nvPr/>
        </p:nvPicPr>
        <p:blipFill>
          <a:blip r:embed="rId4">
            <a:alphaModFix/>
          </a:blip>
          <a:stretch>
            <a:fillRect/>
          </a:stretch>
        </p:blipFill>
        <p:spPr>
          <a:xfrm>
            <a:off x="5077200" y="3854613"/>
            <a:ext cx="2524125" cy="2000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3.4. Elaboración del sitemap.xml</a:t>
            </a:r>
            <a:endParaRPr/>
          </a:p>
        </p:txBody>
      </p:sp>
      <p:sp>
        <p:nvSpPr>
          <p:cNvPr id="143" name="Google Shape;143;p2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U</a:t>
            </a:r>
            <a:r>
              <a:rPr lang="es"/>
              <a:t>n sitemap es una herramienta que ayuda a los motores de búsqueda a explorar e indexar tu sitio web de manera más eficiente, mejorando así tu visibilidad en los resultados de búsqueda y ayudando a los usuarios a encontrar el contenido que buscan.</a:t>
            </a:r>
            <a:endParaRPr/>
          </a:p>
        </p:txBody>
      </p:sp>
      <p:pic>
        <p:nvPicPr>
          <p:cNvPr id="144" name="Google Shape;144;p24"/>
          <p:cNvPicPr preferRelativeResize="0"/>
          <p:nvPr/>
        </p:nvPicPr>
        <p:blipFill>
          <a:blip r:embed="rId3">
            <a:alphaModFix/>
          </a:blip>
          <a:stretch>
            <a:fillRect/>
          </a:stretch>
        </p:blipFill>
        <p:spPr>
          <a:xfrm rot="-273914">
            <a:off x="4888350" y="3042449"/>
            <a:ext cx="3737075" cy="18718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3.5. Elaboración de robots.txt</a:t>
            </a:r>
            <a:endParaRPr/>
          </a:p>
        </p:txBody>
      </p:sp>
      <p:sp>
        <p:nvSpPr>
          <p:cNvPr id="150" name="Google Shape;150;p25"/>
          <p:cNvSpPr txBox="1"/>
          <p:nvPr>
            <p:ph idx="1" type="body"/>
          </p:nvPr>
        </p:nvSpPr>
        <p:spPr>
          <a:xfrm>
            <a:off x="471900" y="1919075"/>
            <a:ext cx="8222100" cy="27102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
              <a:t>El archivo robots.txt es una forma eficaz de comunicarse con los motores de búsqueda y asegurarse de que tu contenido se gestiona de la manera que deseas.</a:t>
            </a:r>
            <a:endParaRPr/>
          </a:p>
          <a:p>
            <a:pPr indent="-342900" lvl="0" marL="457200" rtl="0" algn="l">
              <a:spcBef>
                <a:spcPts val="1200"/>
              </a:spcBef>
              <a:spcAft>
                <a:spcPts val="0"/>
              </a:spcAft>
              <a:buSzPts val="1800"/>
              <a:buChar char="●"/>
            </a:pPr>
            <a:r>
              <a:rPr lang="es"/>
              <a:t>Permite controlar qué partes de tu sitio web pueden ser rastreadas y mostradas en los resultados de búsqueda.</a:t>
            </a:r>
            <a:endParaRPr/>
          </a:p>
          <a:p>
            <a:pPr indent="-342900" lvl="0" marL="457200" rtl="0" algn="l">
              <a:spcBef>
                <a:spcPts val="0"/>
              </a:spcBef>
              <a:spcAft>
                <a:spcPts val="0"/>
              </a:spcAft>
              <a:buSzPts val="1800"/>
              <a:buChar char="●"/>
            </a:pPr>
            <a:r>
              <a:rPr lang="es"/>
              <a:t>Ayuda a optimizar el proceso de rastreo de los motores de búsqueda.</a:t>
            </a:r>
            <a:endParaRPr/>
          </a:p>
          <a:p>
            <a:pPr indent="-342900" lvl="0" marL="457200" rtl="0" algn="l">
              <a:spcBef>
                <a:spcPts val="0"/>
              </a:spcBef>
              <a:spcAft>
                <a:spcPts val="0"/>
              </a:spcAft>
              <a:buSzPts val="1800"/>
              <a:buChar char="●"/>
            </a:pPr>
            <a:r>
              <a:rPr lang="es"/>
              <a:t>Protege la seguridad y la privacidad de ciertas áreas de tu sitio.</a:t>
            </a:r>
            <a:endParaRPr/>
          </a:p>
          <a:p>
            <a:pPr indent="0" lvl="0" marL="0" rtl="0" algn="l">
              <a:spcBef>
                <a:spcPts val="1200"/>
              </a:spcBef>
              <a:spcAft>
                <a:spcPts val="1200"/>
              </a:spcAft>
              <a:buNone/>
            </a:pPr>
            <a:r>
              <a:t/>
            </a:r>
            <a:endParaRPr sz="1100">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6"/>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3.5. Elaboración de robots.txt</a:t>
            </a:r>
            <a:endParaRPr/>
          </a:p>
        </p:txBody>
      </p:sp>
      <p:sp>
        <p:nvSpPr>
          <p:cNvPr id="156" name="Google Shape;156;p26"/>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57" name="Google Shape;157;p26"/>
          <p:cNvPicPr preferRelativeResize="0"/>
          <p:nvPr/>
        </p:nvPicPr>
        <p:blipFill>
          <a:blip r:embed="rId3">
            <a:alphaModFix/>
          </a:blip>
          <a:stretch>
            <a:fillRect/>
          </a:stretch>
        </p:blipFill>
        <p:spPr>
          <a:xfrm>
            <a:off x="2652325" y="1842687"/>
            <a:ext cx="3861250" cy="28629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7"/>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4. Preparación para la indexación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8"/>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4.1. Estructura de enlaces internos</a:t>
            </a:r>
            <a:endParaRPr/>
          </a:p>
        </p:txBody>
      </p:sp>
      <p:sp>
        <p:nvSpPr>
          <p:cNvPr id="168" name="Google Shape;168;p28"/>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Una buena estructura de enlaces internos mejora significativamente la experiencia del usuario y la efectividad del SEO de un sitio web. Al planificar y mantener cuidadosamente los enlaces internos, puedes: </a:t>
            </a:r>
            <a:endParaRPr/>
          </a:p>
          <a:p>
            <a:pPr indent="-342900" lvl="0" marL="457200" rtl="0" algn="l">
              <a:spcBef>
                <a:spcPts val="1200"/>
              </a:spcBef>
              <a:spcAft>
                <a:spcPts val="0"/>
              </a:spcAft>
              <a:buSzPts val="1800"/>
              <a:buChar char="●"/>
            </a:pPr>
            <a:r>
              <a:rPr lang="es"/>
              <a:t>Facilitar la navegación.</a:t>
            </a:r>
            <a:endParaRPr/>
          </a:p>
          <a:p>
            <a:pPr indent="-342900" lvl="0" marL="457200" rtl="0" algn="l">
              <a:spcBef>
                <a:spcPts val="0"/>
              </a:spcBef>
              <a:spcAft>
                <a:spcPts val="0"/>
              </a:spcAft>
              <a:buSzPts val="1800"/>
              <a:buChar char="●"/>
            </a:pPr>
            <a:r>
              <a:rPr lang="es"/>
              <a:t>Mejorar la indexación.</a:t>
            </a:r>
            <a:endParaRPr/>
          </a:p>
          <a:p>
            <a:pPr indent="-342900" lvl="0" marL="457200" rtl="0" algn="l">
              <a:spcBef>
                <a:spcPts val="0"/>
              </a:spcBef>
              <a:spcAft>
                <a:spcPts val="0"/>
              </a:spcAft>
              <a:buSzPts val="1800"/>
              <a:buChar char="●"/>
            </a:pPr>
            <a:r>
              <a:rPr lang="es"/>
              <a:t>Distribuir el valor del PageRank.</a:t>
            </a:r>
            <a:endParaRPr/>
          </a:p>
          <a:p>
            <a:pPr indent="-342900" lvl="0" marL="457200" rtl="0" algn="l">
              <a:spcBef>
                <a:spcPts val="0"/>
              </a:spcBef>
              <a:spcAft>
                <a:spcPts val="0"/>
              </a:spcAft>
              <a:buSzPts val="1800"/>
              <a:buChar char="●"/>
            </a:pPr>
            <a:r>
              <a:rPr lang="es"/>
              <a:t>Contextualizar mejor tu contenido para los motores de búsqueda.</a:t>
            </a:r>
            <a:endParaRPr/>
          </a:p>
        </p:txBody>
      </p:sp>
      <p:pic>
        <p:nvPicPr>
          <p:cNvPr id="169" name="Google Shape;169;p28"/>
          <p:cNvPicPr preferRelativeResize="0"/>
          <p:nvPr/>
        </p:nvPicPr>
        <p:blipFill>
          <a:blip r:embed="rId3">
            <a:alphaModFix/>
          </a:blip>
          <a:stretch>
            <a:fillRect/>
          </a:stretch>
        </p:blipFill>
        <p:spPr>
          <a:xfrm rot="302239">
            <a:off x="4210884" y="367792"/>
            <a:ext cx="4813313" cy="53948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9"/>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4.2. Adaptabilidad Móvil</a:t>
            </a:r>
            <a:endParaRPr/>
          </a:p>
        </p:txBody>
      </p:sp>
      <p:sp>
        <p:nvSpPr>
          <p:cNvPr id="175" name="Google Shape;175;p29"/>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Implementar un diseño responsive, optimizar imágenes y </a:t>
            </a:r>
            <a:endParaRPr/>
          </a:p>
          <a:p>
            <a:pPr indent="0" lvl="0" marL="0" rtl="0" algn="l">
              <a:spcBef>
                <a:spcPts val="1200"/>
              </a:spcBef>
              <a:spcAft>
                <a:spcPts val="0"/>
              </a:spcAft>
              <a:buNone/>
            </a:pPr>
            <a:r>
              <a:rPr lang="es"/>
              <a:t>navegación, y ajustar la tipografía </a:t>
            </a:r>
            <a:endParaRPr/>
          </a:p>
          <a:p>
            <a:pPr indent="0" lvl="0" marL="0" rtl="0" algn="l">
              <a:spcBef>
                <a:spcPts val="1200"/>
              </a:spcBef>
              <a:spcAft>
                <a:spcPts val="0"/>
              </a:spcAft>
              <a:buNone/>
            </a:pPr>
            <a:r>
              <a:rPr lang="es"/>
              <a:t>y los elementos interactivos </a:t>
            </a:r>
            <a:endParaRPr/>
          </a:p>
          <a:p>
            <a:pPr indent="0" lvl="0" marL="0" rtl="0" algn="l">
              <a:spcBef>
                <a:spcPts val="1200"/>
              </a:spcBef>
              <a:spcAft>
                <a:spcPts val="0"/>
              </a:spcAft>
              <a:buNone/>
            </a:pPr>
            <a:r>
              <a:rPr lang="es"/>
              <a:t>son pasos clave para garantizar que tu sitio web </a:t>
            </a:r>
            <a:endParaRPr/>
          </a:p>
          <a:p>
            <a:pPr indent="0" lvl="0" marL="0" rtl="0" algn="l">
              <a:spcBef>
                <a:spcPts val="1200"/>
              </a:spcBef>
              <a:spcAft>
                <a:spcPts val="1200"/>
              </a:spcAft>
              <a:buNone/>
            </a:pPr>
            <a:r>
              <a:rPr lang="es"/>
              <a:t>sea accesible y funcional en cualquier dispositivo.</a:t>
            </a:r>
            <a:endParaRPr/>
          </a:p>
        </p:txBody>
      </p:sp>
      <p:pic>
        <p:nvPicPr>
          <p:cNvPr id="176" name="Google Shape;176;p29"/>
          <p:cNvPicPr preferRelativeResize="0"/>
          <p:nvPr/>
        </p:nvPicPr>
        <p:blipFill>
          <a:blip r:embed="rId3">
            <a:alphaModFix/>
          </a:blip>
          <a:stretch>
            <a:fillRect/>
          </a:stretch>
        </p:blipFill>
        <p:spPr>
          <a:xfrm rot="2">
            <a:off x="6769950" y="891374"/>
            <a:ext cx="2139970" cy="37378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